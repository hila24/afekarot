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011680"/>
            <a:ext cx="12191695" cy="128016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48840"/>
            <a:ext cx="11247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3400" b="1">
                <a:solidFill>
                  <a:srgbClr val="FFFFFF"/>
                </a:solidFill>
                <a:latin typeface="Arial"/>
              </a:rPr>
              <a:t>אוטומציה: מעיר → דף HTML מעוצב עם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2471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000" b="1">
                <a:solidFill>
                  <a:srgbClr val="38BDF8"/>
                </a:solidFill>
                <a:latin typeface="Arial"/>
              </a:rPr>
              <a:t>תרגיל 3 — אוטומציה (10 נקודות)</a:t>
            </a:r>
          </a:p>
          <a:p>
            <a:pPr algn="ctr" rtl="1"/>
            <a:r>
              <a:rPr sz="1800" b="0">
                <a:solidFill>
                  <a:srgbClr val="FFFFFF"/>
                </a:solidFill>
                <a:latin typeface="Arial"/>
              </a:rPr>
              <a:t>מגישים:  רועי דובין 322865320   ·   הילה רוט 211602487</a:t>
            </a:r>
          </a:p>
          <a:p>
            <a:pPr algn="ctr" rtl="1"/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 rtl="1"/>
            <a:r>
              <a:rPr sz="1400" b="0">
                <a:solidFill>
                  <a:srgbClr val="94A3B8"/>
                </a:solidFill>
                <a:latin typeface="Arial"/>
              </a:rPr>
              <a:t>כלים: Make.com · Airtable · Groq AI · GitHub · Outlook · Leaflet/OpenStreetMap · Openverse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38BDF8"/>
                </a:solidFill>
                <a:latin typeface="Arial"/>
              </a:rPr>
              <a:t>תצוגת הדף שנוצר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005840"/>
            <a:ext cx="6675120" cy="4297680"/>
          </a:xfrm>
          <a:prstGeom prst="roundRect">
            <a:avLst/>
          </a:prstGeom>
          <a:solidFill>
            <a:srgbClr val="1E293B"/>
          </a:solidFill>
          <a:ln w="19050" cap="rnd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1005840"/>
            <a:ext cx="667512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800" b="1">
                <a:solidFill>
                  <a:srgbClr val="94A3B8"/>
                </a:solidFill>
                <a:latin typeface="Arial"/>
              </a:rPr>
              <a:t>📷  הדביקי כאן צילום מסך של הדף</a:t>
            </a:r>
          </a:p>
          <a:p>
            <a:pPr algn="ctr" rtl="1"/>
            <a:r>
              <a:rPr sz="1200" b="0">
                <a:solidFill>
                  <a:srgbClr val="94A3B8"/>
                </a:solidFill>
                <a:latin typeface="Arial"/>
              </a:rPr>
              <a:t>(תל אביב — 3 תמונות, 5 אטרקציות, מפה עם סמנים)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FFFFFF"/>
                </a:solidFill>
                <a:latin typeface="Arial"/>
              </a:rPr>
              <a:t>הדף כולל: 3 תמונות אמיתיות מהאזור · 5 אטרקציות מומלצות · מפה אינטראקטיבית עם נקודות הציון</a:t>
            </a:r>
          </a:p>
          <a:p>
            <a:pPr algn="ctr" rtl="1"/>
            <a:r>
              <a:rPr sz="1300" b="0">
                <a:solidFill>
                  <a:srgbClr val="38BDF8"/>
                </a:solidFill>
                <a:latin typeface="Arial"/>
              </a:rPr>
              <a:t>קישור חי לדוגמה:  https://hila24.github.io/AfekaRot/hw-3/generated/page-...html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600" b="1">
                <a:solidFill>
                  <a:srgbClr val="38BDF8"/>
                </a:solidFill>
                <a:latin typeface="Arial"/>
              </a:rPr>
              <a:t>הקישור ב-Airtable + זרימת האוטומציה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47120" cy="2377440"/>
          </a:xfrm>
          <a:prstGeom prst="roundRect">
            <a:avLst/>
          </a:prstGeom>
          <a:solidFill>
            <a:srgbClr val="1E293B"/>
          </a:solidFill>
          <a:ln w="19050" cap="rnd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600" b="1">
                <a:solidFill>
                  <a:srgbClr val="94A3B8"/>
                </a:solidFill>
                <a:latin typeface="Arial"/>
              </a:rPr>
              <a:t>📷  הדביקי כאן צילום של ה-canvas ב-Make (7 המודולים)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11880"/>
            <a:ext cx="11247120" cy="2651760"/>
          </a:xfrm>
          <a:prstGeom prst="roundRect">
            <a:avLst/>
          </a:prstGeom>
          <a:solidFill>
            <a:srgbClr val="1E293B"/>
          </a:solidFill>
          <a:ln w="19050" cap="rnd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471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600" b="1">
                <a:solidFill>
                  <a:srgbClr val="94A3B8"/>
                </a:solidFill>
                <a:latin typeface="Arial"/>
              </a:rPr>
              <a:t>📷  הדביקי כאן צילום של טבלת ה-Airtable</a:t>
            </a:r>
          </a:p>
          <a:p>
            <a:pPr algn="ctr" rtl="1"/>
            <a:r>
              <a:rPr sz="1200" b="0">
                <a:solidFill>
                  <a:srgbClr val="94A3B8"/>
                </a:solidFill>
                <a:latin typeface="Arial"/>
              </a:rPr>
              <a:t>(העמודות City · Status · PageLink — כולל שורה Approved)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38BDF8"/>
                </a:solidFill>
                <a:latin typeface="Arial"/>
              </a:rPr>
              <a:t>פירוט שלבי הזרימה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38BDF8"/>
                </a:solidFill>
                <a:latin typeface="Arial"/>
              </a:rPr>
              <a:t>1. Airtable – Watch Records: טריגר — עיר חדשה (Status=New) או דחייה (Status=Rejected).</a:t>
            </a:r>
          </a:p>
          <a:p>
            <a:pPr algn="r" rtl="1"/>
            <a:r>
              <a:rPr sz="1600" b="0">
                <a:solidFill>
                  <a:srgbClr val="FFFFFF"/>
                </a:solidFill>
                <a:latin typeface="Arial"/>
              </a:rPr>
              <a:t>2. Tools – Set variable: יוצר שם קובץ ייחודי לכל הרצה (גיבוי נפרד בכל פעם).</a:t>
            </a:r>
          </a:p>
          <a:p>
            <a:pPr algn="r" rtl="1"/>
            <a:r>
              <a:rPr sz="1600" b="0">
                <a:solidFill>
                  <a:srgbClr val="FFFFFF"/>
                </a:solidFill>
                <a:latin typeface="Arial"/>
              </a:rPr>
              <a:t>3. HTTP – Openverse: מביא 3 תמונות אמיתיות של האזור (ללא מפתח API).</a:t>
            </a:r>
          </a:p>
          <a:p>
            <a:pPr algn="r" rtl="1"/>
            <a:r>
              <a:rPr sz="1600" b="0">
                <a:solidFill>
                  <a:srgbClr val="FFFFFF"/>
                </a:solidFill>
                <a:latin typeface="Arial"/>
              </a:rPr>
              <a:t>4. HTTP – Groq AI: מייצר דף HTML מלא — מבוא + 5 אטרקציות עם קואורדינטות אמיתיות.</a:t>
            </a:r>
          </a:p>
          <a:p>
            <a:pPr algn="r" rtl="1"/>
            <a:r>
              <a:rPr sz="1600" b="0">
                <a:solidFill>
                  <a:srgbClr val="FFFFFF"/>
                </a:solidFill>
                <a:latin typeface="Arial"/>
              </a:rPr>
              <a:t>5. GitHub – Make an API Call: שומר (commit) את הדף לריפו — גיבוי בכל הרצה.</a:t>
            </a:r>
          </a:p>
          <a:p>
            <a:pPr algn="r" rtl="1"/>
            <a:r>
              <a:rPr sz="1600" b="0">
                <a:solidFill>
                  <a:srgbClr val="FFFFFF"/>
                </a:solidFill>
                <a:latin typeface="Arial"/>
              </a:rPr>
              <a:t>6. Airtable – Update a Record: שומר את הקישור (PageLink) ומסמן Status=PendingApproval.</a:t>
            </a:r>
          </a:p>
          <a:p>
            <a:pPr algn="r" rtl="1"/>
            <a:r>
              <a:rPr sz="1600" b="0">
                <a:solidFill>
                  <a:srgbClr val="FFFFFF"/>
                </a:solidFill>
                <a:latin typeface="Arial"/>
              </a:rPr>
              <a:t>7. Email – Send an Email: שולח את הדף + הנחיה לאשר/לדחות ב-Airtable.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94A3B8"/>
                </a:solidFill>
                <a:latin typeface="Arial"/>
              </a:rPr>
              <a:t>אישור: Status=Approved → הקישור נשמר.   דחייה: Status=Rejected + Note → נוצר דף חדש לפי ההערה.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400" b="1">
                <a:solidFill>
                  <a:srgbClr val="38BDF8"/>
                </a:solidFill>
                <a:latin typeface="Arial"/>
              </a:rPr>
              <a:t>הנחיית הבודק — היכן משיגים ומשלבים כל API Key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2103120"/>
                <a:gridCol w="3383280"/>
              </a:tblGrid>
              <a:tr h="792480"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מפתח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מאיפה משיגים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פורמט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לאיזה מודול ב-Make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Groq (AI)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console.groq.com → API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Bearer gsk_…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מודול 3 (HTTP Groq) — Header 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Airtable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airtable.com/create/tokens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pat…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מודולי Airtable (1 + 9) — Connection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github.com/settings/tokens (Contents: Read+Write)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github_pat_… / ghp_…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מודול 5 (GitHub) — 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מייל (Outlook)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smtp-mail.outlook.com:587 / Sign in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סיסמה / OAuth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מודול 7 (Email) — Connection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Openverse / מפה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—  (ללא מפתח)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>
                          <a:solidFill>
                            <a:srgbClr val="0F172A"/>
                          </a:solidFill>
                          <a:latin typeface="Arial"/>
                        </a:rPr>
                        <a:t>מודול 2 / מפת Leaflet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