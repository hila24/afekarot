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6"/>
  </p:normalViewPr>
  <p:slideViewPr>
    <p:cSldViewPr snapToGrid="0" snapToObjects="1">
      <p:cViewPr varScale="1">
        <p:scale>
          <a:sx n="106" d="100"/>
          <a:sy n="106" d="100"/>
        </p:scale>
        <p:origin x="69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hila24.github.io/AfekaRot/hw-3/generated/page-recRe3kaGqSQmWUL4-20260617222041.html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airtable.com/invite/l?inviteId=invzUZ8MmN3ATdpbC&amp;inviteToken=d2fbb1066fa78a57a885f22a4d59556e434b3cd830f4ca46941551e4c759be80&amp;utm_medium=email&amp;utm_source=product_team&amp;utm_content=transactional-alerts" TargetMode="External"/><Relationship Id="rId4" Type="http://schemas.openxmlformats.org/officeDocument/2006/relationships/hyperlink" Target="https://eu1.make.com/public/shared-scenario/P7LQhQyBq2j/integration-airtable-http-git-hub-gmai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2011680"/>
            <a:ext cx="12191695" cy="1280160"/>
          </a:xfrm>
          <a:prstGeom prst="round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148840"/>
            <a:ext cx="112471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/>
            <a:r>
              <a:rPr sz="3400" b="1">
                <a:solidFill>
                  <a:srgbClr val="FFFFFF"/>
                </a:solidFill>
                <a:latin typeface="Arial"/>
              </a:rPr>
              <a:t>אוטומציה: מעיר → דף HTML מעוצב עם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66160"/>
            <a:ext cx="11247120" cy="1169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2000" b="1" dirty="0" err="1">
                <a:solidFill>
                  <a:srgbClr val="38BDF8"/>
                </a:solidFill>
                <a:latin typeface="Arial"/>
              </a:rPr>
              <a:t>תרגיל</a:t>
            </a:r>
            <a:r>
              <a:rPr sz="2000" b="1" dirty="0">
                <a:solidFill>
                  <a:srgbClr val="38BDF8"/>
                </a:solidFill>
                <a:latin typeface="Arial"/>
              </a:rPr>
              <a:t> 3 — </a:t>
            </a:r>
            <a:r>
              <a:rPr sz="2000" b="1" dirty="0" err="1">
                <a:solidFill>
                  <a:srgbClr val="38BDF8"/>
                </a:solidFill>
                <a:latin typeface="Arial"/>
              </a:rPr>
              <a:t>אוטומציה</a:t>
            </a:r>
            <a:r>
              <a:rPr sz="2000" b="1" dirty="0">
                <a:solidFill>
                  <a:srgbClr val="38BDF8"/>
                </a:solidFill>
                <a:latin typeface="Arial"/>
              </a:rPr>
              <a:t> </a:t>
            </a:r>
            <a:endParaRPr lang="en-US" sz="2000" b="1" dirty="0">
              <a:solidFill>
                <a:srgbClr val="38BDF8"/>
              </a:solidFill>
              <a:latin typeface="Arial"/>
            </a:endParaRPr>
          </a:p>
          <a:p>
            <a:pPr algn="ctr" rtl="1"/>
            <a:r>
              <a:rPr lang="he-IL" sz="1800" b="0" dirty="0">
                <a:solidFill>
                  <a:srgbClr val="FFFFFF"/>
                </a:solidFill>
                <a:latin typeface="Arial"/>
              </a:rPr>
              <a:t>מגישים:  רועי </a:t>
            </a:r>
            <a:r>
              <a:rPr lang="he-IL" sz="1800" b="0" dirty="0" err="1">
                <a:solidFill>
                  <a:srgbClr val="FFFFFF"/>
                </a:solidFill>
                <a:latin typeface="Arial"/>
              </a:rPr>
              <a:t>דובין</a:t>
            </a:r>
            <a:r>
              <a:rPr lang="he-IL" sz="1800" b="0" dirty="0">
                <a:solidFill>
                  <a:srgbClr val="FFFFFF"/>
                </a:solidFill>
                <a:latin typeface="Arial"/>
              </a:rPr>
              <a:t> 322865320   ·   הילה רוט 211602487</a:t>
            </a:r>
          </a:p>
          <a:p>
            <a:pPr algn="ctr" rtl="1"/>
            <a:endParaRPr sz="1800" b="0" dirty="0">
              <a:solidFill>
                <a:srgbClr val="FFFFFF"/>
              </a:solidFill>
              <a:latin typeface="Arial"/>
            </a:endParaRPr>
          </a:p>
          <a:p>
            <a:pPr algn="ctr" rtl="1"/>
            <a:r>
              <a:rPr sz="1400" b="0" dirty="0" err="1">
                <a:solidFill>
                  <a:srgbClr val="94A3B8"/>
                </a:solidFill>
                <a:latin typeface="Arial"/>
              </a:rPr>
              <a:t>כלים</a:t>
            </a:r>
            <a:r>
              <a:rPr sz="1400" b="0" dirty="0">
                <a:solidFill>
                  <a:srgbClr val="94A3B8"/>
                </a:solidFill>
                <a:latin typeface="Arial"/>
              </a:rPr>
              <a:t>: </a:t>
            </a:r>
            <a:r>
              <a:rPr sz="1400" b="0" dirty="0" err="1">
                <a:solidFill>
                  <a:srgbClr val="94A3B8"/>
                </a:solidFill>
                <a:latin typeface="Arial"/>
              </a:rPr>
              <a:t>Make.com</a:t>
            </a:r>
            <a:r>
              <a:rPr sz="1400" b="0" dirty="0">
                <a:solidFill>
                  <a:srgbClr val="94A3B8"/>
                </a:solidFill>
                <a:latin typeface="Arial"/>
              </a:rPr>
              <a:t> · </a:t>
            </a:r>
            <a:r>
              <a:rPr sz="1400" b="0" dirty="0" err="1">
                <a:solidFill>
                  <a:srgbClr val="94A3B8"/>
                </a:solidFill>
                <a:latin typeface="Arial"/>
              </a:rPr>
              <a:t>Airtable</a:t>
            </a:r>
            <a:r>
              <a:rPr sz="1400" b="0" dirty="0">
                <a:solidFill>
                  <a:srgbClr val="94A3B8"/>
                </a:solidFill>
                <a:latin typeface="Arial"/>
              </a:rPr>
              <a:t> · </a:t>
            </a:r>
            <a:r>
              <a:rPr sz="1400" b="0" dirty="0" err="1">
                <a:solidFill>
                  <a:srgbClr val="94A3B8"/>
                </a:solidFill>
                <a:latin typeface="Arial"/>
              </a:rPr>
              <a:t>Groq</a:t>
            </a:r>
            <a:r>
              <a:rPr sz="1400" b="0" dirty="0">
                <a:solidFill>
                  <a:srgbClr val="94A3B8"/>
                </a:solidFill>
                <a:latin typeface="Arial"/>
              </a:rPr>
              <a:t> AI · GitHub · Outlook · Leaflet/OpenStreetMap · </a:t>
            </a:r>
            <a:r>
              <a:rPr sz="1400" b="0" dirty="0" err="1">
                <a:solidFill>
                  <a:srgbClr val="94A3B8"/>
                </a:solidFill>
                <a:latin typeface="Arial"/>
              </a:rPr>
              <a:t>Openverse</a:t>
            </a:r>
            <a:endParaRPr sz="1400" b="0" dirty="0">
              <a:solidFill>
                <a:srgbClr val="94A3B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800" b="1">
                <a:solidFill>
                  <a:srgbClr val="38BDF8"/>
                </a:solidFill>
                <a:latin typeface="Arial"/>
              </a:rPr>
              <a:t>תצוגת הדף שנוצר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0"/>
            <a:ext cx="112471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400" b="0" dirty="0" err="1">
                <a:solidFill>
                  <a:srgbClr val="FFFFFF"/>
                </a:solidFill>
                <a:latin typeface="Arial"/>
              </a:rPr>
              <a:t>הדף</a:t>
            </a:r>
            <a:r>
              <a:rPr sz="14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</a:rPr>
              <a:t>כולל</a:t>
            </a:r>
            <a:r>
              <a:rPr sz="1400" b="0" dirty="0">
                <a:solidFill>
                  <a:srgbClr val="FFFFFF"/>
                </a:solidFill>
                <a:latin typeface="Arial"/>
              </a:rPr>
              <a:t>: 3 </a:t>
            </a:r>
            <a:r>
              <a:rPr sz="1400" b="0" dirty="0" err="1">
                <a:solidFill>
                  <a:srgbClr val="FFFFFF"/>
                </a:solidFill>
                <a:latin typeface="Arial"/>
              </a:rPr>
              <a:t>תמונות</a:t>
            </a:r>
            <a:r>
              <a:rPr sz="14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</a:rPr>
              <a:t>אמיתיות</a:t>
            </a:r>
            <a:r>
              <a:rPr sz="14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</a:rPr>
              <a:t>מהאזור</a:t>
            </a:r>
            <a:r>
              <a:rPr sz="1400" b="0" dirty="0">
                <a:solidFill>
                  <a:srgbClr val="FFFFFF"/>
                </a:solidFill>
                <a:latin typeface="Arial"/>
              </a:rPr>
              <a:t> · 5 </a:t>
            </a:r>
            <a:r>
              <a:rPr sz="1400" b="0" dirty="0" err="1">
                <a:solidFill>
                  <a:srgbClr val="FFFFFF"/>
                </a:solidFill>
                <a:latin typeface="Arial"/>
              </a:rPr>
              <a:t>אטרקציות</a:t>
            </a:r>
            <a:r>
              <a:rPr sz="14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</a:rPr>
              <a:t>מומלצות</a:t>
            </a:r>
            <a:r>
              <a:rPr sz="1400" b="0" dirty="0">
                <a:solidFill>
                  <a:srgbClr val="FFFFFF"/>
                </a:solidFill>
                <a:latin typeface="Arial"/>
              </a:rPr>
              <a:t> · </a:t>
            </a:r>
            <a:r>
              <a:rPr sz="1400" b="0" dirty="0" err="1">
                <a:solidFill>
                  <a:srgbClr val="FFFFFF"/>
                </a:solidFill>
                <a:latin typeface="Arial"/>
              </a:rPr>
              <a:t>מפה</a:t>
            </a:r>
            <a:r>
              <a:rPr sz="14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</a:rPr>
              <a:t>אינטראקטיבית</a:t>
            </a:r>
            <a:r>
              <a:rPr sz="14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</a:rPr>
              <a:t>עם</a:t>
            </a:r>
            <a:r>
              <a:rPr sz="14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</a:rPr>
              <a:t>נקודות</a:t>
            </a:r>
            <a:r>
              <a:rPr sz="14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</a:rPr>
              <a:t>הציון</a:t>
            </a:r>
            <a:br>
              <a:rPr lang="en-US" sz="1400" b="0" dirty="0">
                <a:solidFill>
                  <a:srgbClr val="FFFFFF"/>
                </a:solidFill>
                <a:latin typeface="Arial"/>
              </a:rPr>
            </a:br>
            <a:r>
              <a:rPr lang="he-IL" sz="1400" b="0" dirty="0">
                <a:solidFill>
                  <a:srgbClr val="FFFFFF"/>
                </a:solidFill>
                <a:latin typeface="Arial"/>
                <a:hlinkClick r:id="rId2"/>
              </a:rPr>
              <a:t>קישור חי לדוגמא</a:t>
            </a:r>
            <a:r>
              <a:rPr lang="he-IL" sz="1400" b="0" dirty="0">
                <a:solidFill>
                  <a:srgbClr val="FFFFFF"/>
                </a:solidFill>
                <a:latin typeface="Arial"/>
              </a:rPr>
              <a:t>:</a:t>
            </a:r>
          </a:p>
        </p:txBody>
      </p:sp>
      <p:pic>
        <p:nvPicPr>
          <p:cNvPr id="7" name="Picture 6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A1C7D0D8-8B72-077C-784E-F7C64C68B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5912" y="594360"/>
            <a:ext cx="3439080" cy="47717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600" b="1" dirty="0" err="1">
                <a:solidFill>
                  <a:srgbClr val="38BDF8"/>
                </a:solidFill>
                <a:latin typeface="Arial"/>
              </a:rPr>
              <a:t>הקישור</a:t>
            </a:r>
            <a:r>
              <a:rPr sz="2600" b="1" dirty="0">
                <a:solidFill>
                  <a:srgbClr val="38BDF8"/>
                </a:solidFill>
                <a:latin typeface="Arial"/>
              </a:rPr>
              <a:t> </a:t>
            </a:r>
            <a:r>
              <a:rPr sz="2600" b="1" dirty="0" err="1">
                <a:solidFill>
                  <a:srgbClr val="38BDF8"/>
                </a:solidFill>
                <a:latin typeface="Arial"/>
              </a:rPr>
              <a:t>ב-Airtable</a:t>
            </a:r>
            <a:r>
              <a:rPr sz="2600" b="1" dirty="0">
                <a:solidFill>
                  <a:srgbClr val="38BDF8"/>
                </a:solidFill>
                <a:latin typeface="Arial"/>
              </a:rPr>
              <a:t> + </a:t>
            </a:r>
            <a:r>
              <a:rPr sz="2600" b="1" dirty="0" err="1">
                <a:solidFill>
                  <a:srgbClr val="38BDF8"/>
                </a:solidFill>
                <a:latin typeface="Arial"/>
              </a:rPr>
              <a:t>זרימת</a:t>
            </a:r>
            <a:r>
              <a:rPr sz="2600" b="1" dirty="0">
                <a:solidFill>
                  <a:srgbClr val="38BDF8"/>
                </a:solidFill>
                <a:latin typeface="Arial"/>
              </a:rPr>
              <a:t> </a:t>
            </a:r>
            <a:r>
              <a:rPr sz="2600" b="1" dirty="0" err="1">
                <a:solidFill>
                  <a:srgbClr val="38BDF8"/>
                </a:solidFill>
                <a:latin typeface="Arial"/>
              </a:rPr>
              <a:t>האוטומציה</a:t>
            </a:r>
            <a:r>
              <a:rPr lang="en-US" sz="2600" b="1" dirty="0">
                <a:solidFill>
                  <a:srgbClr val="38BDF8"/>
                </a:solidFill>
                <a:latin typeface="Arial"/>
              </a:rPr>
              <a:t> </a:t>
            </a:r>
            <a:r>
              <a:rPr lang="he-IL" sz="2600" b="1" dirty="0">
                <a:solidFill>
                  <a:srgbClr val="38BDF8"/>
                </a:solidFill>
                <a:latin typeface="Arial"/>
              </a:rPr>
              <a:t> </a:t>
            </a:r>
            <a:endParaRPr sz="2600" b="1" dirty="0">
              <a:solidFill>
                <a:srgbClr val="38BDF8"/>
              </a:solidFill>
              <a:latin typeface="Arial"/>
            </a:endParaRPr>
          </a:p>
        </p:txBody>
      </p:sp>
      <p:pic>
        <p:nvPicPr>
          <p:cNvPr id="8" name="Picture 7" descr="A group of circles with different colors&#10;&#10;AI-generated content may be incorrect.">
            <a:extLst>
              <a:ext uri="{FF2B5EF4-FFF2-40B4-BE49-F238E27FC236}">
                <a16:creationId xmlns:a16="http://schemas.microsoft.com/office/drawing/2014/main" id="{E6F5A0CF-E60A-6354-EF89-2ADBBEDCA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737" y="936459"/>
            <a:ext cx="10900609" cy="2492541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B60EEC2-8185-95AF-DB77-2748BE7A94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37" y="3986061"/>
            <a:ext cx="11140348" cy="176503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7648DD6-3DEB-3B55-74CD-ECF2A9EF6925}"/>
              </a:ext>
            </a:extLst>
          </p:cNvPr>
          <p:cNvSpPr txBox="1"/>
          <p:nvPr/>
        </p:nvSpPr>
        <p:spPr>
          <a:xfrm>
            <a:off x="2622883" y="5938824"/>
            <a:ext cx="79408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algn="r" defTabSz="457200" rtl="1" eaLnBrk="1" latinLnBrk="0" hangingPunct="1"/>
            <a:r>
              <a:rPr lang="he-IL" dirty="0"/>
              <a:t>קישור לאוטומציה ב</a:t>
            </a:r>
            <a:r>
              <a:rPr lang="en-US" dirty="0">
                <a:hlinkClick r:id="rId4"/>
              </a:rPr>
              <a:t>make.com</a:t>
            </a:r>
            <a:br>
              <a:rPr lang="en-US" dirty="0"/>
            </a:br>
            <a:r>
              <a:rPr lang="he-IL" dirty="0"/>
              <a:t>קישור לטבלה ב</a:t>
            </a:r>
            <a:r>
              <a:rPr lang="en-US" dirty="0" err="1">
                <a:hlinkClick r:id="rId5"/>
              </a:rPr>
              <a:t>AirTable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800" b="1">
                <a:solidFill>
                  <a:srgbClr val="38BDF8"/>
                </a:solidFill>
                <a:latin typeface="Arial"/>
              </a:rPr>
              <a:t>פירוט שלבי הזרימה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94A3B8"/>
                </a:solidFill>
                <a:latin typeface="Arial"/>
              </a:rPr>
              <a:t>אישור: Status=Approved → הקישור נשמר.   דחייה: Status=Rejected + Note → נוצר דף חדש לפי ההערה.</a:t>
            </a:r>
          </a:p>
        </p:txBody>
      </p:sp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F702BEA-E88C-0C50-BBC1-86A628D1A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8803" y="1097280"/>
            <a:ext cx="8954077" cy="33784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400" b="1">
                <a:solidFill>
                  <a:srgbClr val="38BDF8"/>
                </a:solidFill>
                <a:latin typeface="Arial"/>
              </a:rPr>
              <a:t>הנחיית הבודק — היכן משיגים ומשלבים כל API Key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89600DF-9AE8-1421-6DD2-49281DA63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6421" y="1022684"/>
            <a:ext cx="5447899" cy="5041232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2D863C3-B22A-ED01-6863-E94D19A7B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1022684"/>
            <a:ext cx="5718716" cy="50412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118</Words>
  <Application>Microsoft Macintosh PowerPoint</Application>
  <PresentationFormat>Widescreen</PresentationFormat>
  <Paragraphs>12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Hila Rot</cp:lastModifiedBy>
  <cp:revision>2</cp:revision>
  <dcterms:created xsi:type="dcterms:W3CDTF">2013-01-27T09:14:16Z</dcterms:created>
  <dcterms:modified xsi:type="dcterms:W3CDTF">2026-06-17T20:01:43Z</dcterms:modified>
  <cp:category/>
</cp:coreProperties>
</file>